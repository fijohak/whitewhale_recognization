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大家好，今天汇报中华白海豚个体识别项目的前期准备与后续方向。本周完成了数据盘点与索引，并基于数据现状确定了两个核心技术方向——跨物种迁移学习和散图分拣利用。汇报主线是：先看数据长什么样，再看数据特点如何决定技术路线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本周完成了四件事。第一，数据盘点：全量扫描了 01 和 03 两个调查批次，为两千八百六十三张图片建立索引，并做了精确重复检测。第二，标签体系：解析了评分区间与个体分组的语义，把数据分成 labeled、loose_known、ignored 三级，并引入 candidate-label 弱监督的概念。第三，文档整合：把数据语义、假设清单和待办事项全部写入文档。第四，也是最关键的一步——跨物种迁移学习方案成文，明确了四组对照实验的设计。这四项工作为后续技术路线提供了完整依据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先看整体规模。两个调查批次共两千八百六十三张照片，01 批次八百一十八张，03 批次两千零四十五张。标签分布上，43 个已分组个体覆盖一百九十九张照片，207 张 70 到 79 分的散图归属待确认，其余两千四百五十七张暂不用于训练。个体层面，单图个体 15 个，多图个体 28 个，个体照片最多 27 张；全部图片可读，精确重复只有一组两张。需要说明，个体数是按调查内分组编号统计的，跨调查同名编号未合并。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这三张图是实际扫描的统计结果。标签状态分布显示，大多数图片未标注，可标注图片集中在 70 分以上。调查批次分布可以看到两个批次的体量对比。评分区间分布呈金字塔结构：70 到 79 分是最大的候选池，80 分以上是质量最好的标注来源，50 分以下和未知区间基本不可用。这些分布直接决定训练数据的选择策略。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数据有四个关键特点，每个特点都指向明确的技术应对。第一，极端少样本：43 个个体各只有一张照片，模型无法从零训练，所以必须用迁移学习——外部鲸豚数据预训练加本地微调。第二，207 张散图归属未确认：可以通过人工分拣扩充标签，分拣前先作为候选标签做弱监督。第三，背鳍有左右两面，必须记录朝向、左右侧分别比较。第四，同一天两群、跨调查未核验，所以只在调查内做比较，跨调查仅作候选。由此确定两个技术方向：迁移学习和散图分拣利用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散图不是负担，是标签扩充池。有两条利用路径。路径 A 是人工分拣：01 批次 59 张、03 批次 148 张，分拣到对应个体文件夹后更新清单，个体标签直接扩充，缓解 one-shot 问题。路径 B 是 candidate-label 弱监督：分拣前散图就可以参与训练，但约束是只能作为同调查、同评分区间内的候选集合信息，不能当作个体标签。分拣一张，可用训练样本就加一张；207 张全部分拣完成后，个体样本量最多可以提升一倍以上。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迁移学习是解决少样本的关键，我们设计了四组对照实验。A 是基线，用 ImageNet 或 DINOv2 这类通用预训练模型加本地数据；B 是鲸豚监督迁移，用 Happywhale 的监督预训练加本地；C 是自监督鲸豚迁移；D 是多源鲸豚，把 Happywhale、NDD20、NOAA、Beluga 全部用上。判定标准：如果 C 或 B 优于 A，说明外部鲸豚数据有价值；如果 C 低于 B，说明存在负迁移，改用多源或自监督。执行顺序是 A 到 B 到 D 再到 C。核心判断是：我们迁移的是通用鲸豚背鳍表示，而不是某一种源物种的个体分类规则。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外部数据源分四类。Happywhale 是最大的一组，五万一千张、一万五千六百个体、三十个物种；NDD20 四千四百张，本身就是背鳍识别数据，还有分割标注；NOAA 宽吻海豚数据有 188 个体，背鳍形态最接近我们的场景；Beluga ID 五千九百张，基于疤痕和纹理识别，正好覆盖我们目标物种依赖的纹理线索。最大风险是负迁移：源域靠背鳍轮廓、目标域靠斑点纹理，直接分类迁移可能让模型忽略纹理，所以要用消融实验验证。执行顺序按规模从小到大：先 NDD20、NOAA、Beluga 跑通流程，再上 Happywhale 和多源融合。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整体技术路线是完整的闭环。第一步背鳍裁剪和朝向标注；第二步用预训练模型提取特征并做 L2 归一化；第三步余弦相似度加 Faiss 做 Top-K 检索；第四步 HDBSCAN 候选聚类，允许噪声；第五步人工核验候选簇；第六步高可信结果生成伪标签；第七步度量学习重新提取特征；第八步建成可持续更新的个体数据库。系统输出三类结果：Top-K 候选、未知个体标记、需人工核验。核验结果回流微调模型，形成闭环迭代。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项目分七个阶段。阶段 0 语义确认和阶段 1 数据索引已经完成，对应本周的工作。阶段 2 Pilot Set 与最小基线正在进行，包括选择试点数据、基线特征提取、Top-K 检索、候选聚类、拼图生成和基线诊断六步。阶段 3 人工基准集、阶段 4 自监督与轮廓特征、阶段 5 伪标签与度量学习、阶段 6 自动化系统依次推进。阶段 0 到 1 的交付物是索引四件套：数据清单、统计文件、目录树和异常文件表，全部可追溯、可重跑。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当前状态是索引已就绪、行动待启动。已交付索引四件套：两千八百六十三行数据清单、统计文件、目录树和零损坏的异常文件表。下一步三件事：第一，散图分拣 207 张，扩充标签；第二，按规模递增下载外部数据，启动迁移实验；第三，建立朝向标注规范。待确认事项压缩为一项：数据授权，以及 individual 文档内容和低分区间的含义。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总结一下：数据现状已经清晰，技术方向已经明确。迁移学习解决少样本，散图分拣扩充标签。下一步三件事：分拣散图、下载外部数据启动迁移实验、跑通 Pilot Set 基线。谢谢大家，欢迎讨论。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white_whale_prep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white_whale_prep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5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c04cf78f0ca04bc7.png"/>
  <Relationship Id="rId3" Type="http://schemas.openxmlformats.org/officeDocument/2006/relationships/image" Target="../media/image_fa416c40a31f1180.png"/>
  <Relationship Id="rId4" Type="http://schemas.openxmlformats.org/officeDocument/2006/relationships/image" Target="../media/image_14c6c65b41909c1b.png"/>
  <Relationship Id="rId5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4191000" y="3162300"/>
            <a:ext cx="3810000" cy="9525"/>
            <a:chOff x="4191000" y="3162300"/>
            <a:chExt cx="3810000" cy="9525"/>
          </a:xfrm>
        </p:grpSpPr>
        <p:sp>
          <p:nvSpPr>
            <p:cNvPr id="3" name="Line 3"/>
            <p:cNvSpPr/>
            <p:nvPr/>
          </p:nvSpPr>
          <p:spPr>
            <a:xfrm>
              <a:off x="4191000" y="3162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3944131" y="1869758"/>
            <a:ext cx="4303738" cy="1056131"/>
            <a:chOff x="3944131" y="1869758"/>
            <a:chExt cx="4303738" cy="1056131"/>
          </a:xfrm>
        </p:grpSpPr>
        <p:sp>
          <p:nvSpPr>
            <p:cNvPr id="5" name="TextBox 5"/>
            <p:cNvSpPr txBox="1"/>
            <p:nvPr/>
          </p:nvSpPr>
          <p:spPr>
            <a:xfrm>
              <a:off x="4076348" y="1869758"/>
              <a:ext cx="403930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1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中华白海豚个体识别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944131" y="2603182"/>
              <a:ext cx="43037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前期准备与后续方向 · 数据盘点 → 技术路线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751040" y="3990975"/>
            <a:ext cx="4689920" cy="769620"/>
            <a:chOff x="3751040" y="3990975"/>
            <a:chExt cx="4689920" cy="769620"/>
          </a:xfrm>
        </p:grpSpPr>
        <p:sp>
          <p:nvSpPr>
            <p:cNvPr id="8" name="TextBox 8"/>
            <p:cNvSpPr txBox="1"/>
            <p:nvPr/>
          </p:nvSpPr>
          <p:spPr>
            <a:xfrm>
              <a:off x="3751040" y="3990975"/>
              <a:ext cx="46899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利用背鳍特征进行个体识别 · 当前处于数据准备阶段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30178" y="4467225"/>
              <a:ext cx="17316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日期：2026-08-07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122540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0" y="6534150"/>
            <a:ext cx="12192000" cy="381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1262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本周进展 — 盘点索引与方案成文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1238250"/>
            <a:ext cx="10858500" cy="1095375"/>
            <a:chOff x="666750" y="1238250"/>
            <a:chExt cx="10858500" cy="1095375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10858500" cy="1095375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95250" cy="1095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9368" y="1498282"/>
              <a:ext cx="1439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01　数据盘点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273" y="1881664"/>
              <a:ext cx="59938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全量扫描 I:\01 与 I:\03，建立 2863 张图片索引，SHA-256 精确重复检测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2476500"/>
            <a:ext cx="10858500" cy="1095375"/>
            <a:chOff x="666750" y="2476500"/>
            <a:chExt cx="10858500" cy="1095375"/>
          </a:xfrm>
        </p:grpSpPr>
        <p:sp>
          <p:nvSpPr>
            <p:cNvPr id="11" name="Rectangle 11"/>
            <p:cNvSpPr/>
            <p:nvPr/>
          </p:nvSpPr>
          <p:spPr>
            <a:xfrm>
              <a:off x="666750" y="2476500"/>
              <a:ext cx="10858500" cy="1095375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666750" y="2476500"/>
              <a:ext cx="95250" cy="1095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9368" y="2736532"/>
              <a:ext cx="1439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02　标签体系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273" y="3119914"/>
              <a:ext cx="8051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解析评分区间与个体分组语义，labeled / loose_known / ignored 三级标签，含 candidate-label 弱监督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3714750"/>
            <a:ext cx="10858500" cy="1095375"/>
            <a:chOff x="666750" y="3714750"/>
            <a:chExt cx="10858500" cy="1095375"/>
          </a:xfrm>
        </p:grpSpPr>
        <p:sp>
          <p:nvSpPr>
            <p:cNvPr id="16" name="Rectangle 16"/>
            <p:cNvSpPr/>
            <p:nvPr/>
          </p:nvSpPr>
          <p:spPr>
            <a:xfrm>
              <a:off x="666750" y="3714750"/>
              <a:ext cx="10858500" cy="1095375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" y="3714750"/>
              <a:ext cx="95250" cy="10953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9368" y="3974782"/>
              <a:ext cx="14394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03　文档整合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273" y="4358164"/>
              <a:ext cx="56024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README / TASKS 全面更新，数据语义、假设清单、待办事项全部落档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66750" y="4953000"/>
            <a:ext cx="10858500" cy="1095375"/>
            <a:chOff x="666750" y="4953000"/>
            <a:chExt cx="10858500" cy="1095375"/>
          </a:xfrm>
        </p:grpSpPr>
        <p:sp>
          <p:nvSpPr>
            <p:cNvPr id="21" name="Rectangle 21"/>
            <p:cNvSpPr/>
            <p:nvPr/>
          </p:nvSpPr>
          <p:spPr>
            <a:xfrm>
              <a:off x="666750" y="4953000"/>
              <a:ext cx="10858500" cy="1095375"/>
            </a:xfrm>
            <a:prstGeom prst="roundRect">
              <a:avLst>
                <a:gd name="adj" fmla="val 695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66750" y="4953000"/>
              <a:ext cx="95250" cy="10953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9368" y="5213032"/>
              <a:ext cx="19059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04　迁移方案成文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1273" y="5596414"/>
              <a:ext cx="44931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跨物种迁移学习与少样本适配方案落档，明确四组对照实验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本周进展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306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数据规模 — 2863 张野外调查照片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6750" y="1143000"/>
            <a:ext cx="2571750" cy="1238250"/>
            <a:chOff x="666750" y="1143000"/>
            <a:chExt cx="2571750" cy="1238250"/>
          </a:xfrm>
        </p:grpSpPr>
        <p:sp>
          <p:nvSpPr>
            <p:cNvPr id="6" name="Rectangle 6"/>
            <p:cNvSpPr/>
            <p:nvPr/>
          </p:nvSpPr>
          <p:spPr>
            <a:xfrm>
              <a:off x="666750" y="1143000"/>
              <a:ext cx="2571750" cy="1238250"/>
            </a:xfrm>
            <a:prstGeom prst="roundRect">
              <a:avLst>
                <a:gd name="adj" fmla="val 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446842" y="1393508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2863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3026" y="198501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总图片数（01: 818 · 03: 2045）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429000" y="1143000"/>
            <a:ext cx="2571750" cy="1238250"/>
            <a:chOff x="3429000" y="1143000"/>
            <a:chExt cx="2571750" cy="1238250"/>
          </a:xfrm>
        </p:grpSpPr>
        <p:sp>
          <p:nvSpPr>
            <p:cNvPr id="10" name="Rectangle 10"/>
            <p:cNvSpPr/>
            <p:nvPr/>
          </p:nvSpPr>
          <p:spPr>
            <a:xfrm>
              <a:off x="3429000" y="1143000"/>
              <a:ext cx="2571750" cy="12382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53982" y="13935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43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973754" y="1985010"/>
              <a:ext cx="1482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已分组个体 · 199 张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91250" y="1143000"/>
            <a:ext cx="2571750" cy="1238250"/>
            <a:chOff x="6191250" y="1143000"/>
            <a:chExt cx="2571750" cy="1238250"/>
          </a:xfrm>
        </p:grpSpPr>
        <p:sp>
          <p:nvSpPr>
            <p:cNvPr id="14" name="Rectangle 14"/>
            <p:cNvSpPr/>
            <p:nvPr/>
          </p:nvSpPr>
          <p:spPr>
            <a:xfrm>
              <a:off x="6191250" y="1143000"/>
              <a:ext cx="2571750" cy="12382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93787" y="1393508"/>
              <a:ext cx="766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207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7726" y="1985010"/>
              <a:ext cx="19587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70-79 散图（归属待确认）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953500" y="1143000"/>
            <a:ext cx="2571750" cy="1238250"/>
            <a:chOff x="8953500" y="1143000"/>
            <a:chExt cx="2571750" cy="1238250"/>
          </a:xfrm>
        </p:grpSpPr>
        <p:sp>
          <p:nvSpPr>
            <p:cNvPr id="18" name="Rectangle 18"/>
            <p:cNvSpPr/>
            <p:nvPr/>
          </p:nvSpPr>
          <p:spPr>
            <a:xfrm>
              <a:off x="8953500" y="1143000"/>
              <a:ext cx="2571750" cy="12382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33592" y="1393508"/>
              <a:ext cx="101156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2457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56903" y="1985010"/>
              <a:ext cx="1764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低于 70 分 / 拍摄者目录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48868" y="3022282"/>
            <a:ext cx="5151882" cy="2845118"/>
            <a:chOff x="848868" y="3022282"/>
            <a:chExt cx="5151882" cy="2845118"/>
          </a:xfrm>
        </p:grpSpPr>
        <p:sp>
          <p:nvSpPr>
            <p:cNvPr id="22" name="TextBox 22"/>
            <p:cNvSpPr txBox="1"/>
            <p:nvPr/>
          </p:nvSpPr>
          <p:spPr>
            <a:xfrm>
              <a:off x="848868" y="30222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个体与标签统计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57250" y="3390900"/>
              <a:ext cx="51435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42035" y="34790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指标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71035" y="3479006"/>
              <a:ext cx="328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数值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57250" y="3714750"/>
              <a:ext cx="5143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2035" y="37933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单图个体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99676" y="379333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15 个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57250" y="4019550"/>
              <a:ext cx="5143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2035" y="40981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多图个体（含连拍）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299676" y="409813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28 个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57250" y="4324350"/>
              <a:ext cx="5143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42035" y="440293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个体最多图片数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99676" y="4402931"/>
              <a:ext cx="373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27 张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7250" y="4629150"/>
              <a:ext cx="5143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2035" y="4707731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可读图片 / 损坏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73515" y="470773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2863 / 0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7250" y="4933950"/>
              <a:ext cx="5143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42035" y="5012531"/>
              <a:ext cx="17399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精确重复组（SHA-256）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58437" y="501253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1 组 2 张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57250" y="5314950"/>
              <a:ext cx="5143500" cy="552450"/>
            </a:xfrm>
            <a:prstGeom prst="roundRect">
              <a:avLst>
                <a:gd name="adj" fmla="val 103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42035" y="5479256"/>
              <a:ext cx="28768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个体数按标签 {session}_{group_id} 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797" y="5666899"/>
              <a:ext cx="21207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跨调查同名编号未合并，需人工核验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373368" y="3022282"/>
            <a:ext cx="5151882" cy="1873568"/>
            <a:chOff x="6373368" y="3022282"/>
            <a:chExt cx="5151882" cy="1873568"/>
          </a:xfrm>
        </p:grpSpPr>
        <p:sp>
          <p:nvSpPr>
            <p:cNvPr id="45" name="TextBox 45"/>
            <p:cNvSpPr txBox="1"/>
            <p:nvPr/>
          </p:nvSpPr>
          <p:spPr>
            <a:xfrm>
              <a:off x="6373368" y="30222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批次分布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6381750" y="3390900"/>
              <a:ext cx="5143500" cy="3238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566535" y="34790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调查批次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05035" y="347900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图片数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381750" y="3714750"/>
              <a:ext cx="5143500" cy="3048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6535" y="3793331"/>
              <a:ext cx="2107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I:\01（20140417W01 · SZi）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56257" y="379333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818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6381750" y="4019550"/>
              <a:ext cx="5143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566535" y="4098131"/>
              <a:ext cx="2107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I:\03（20140417W03 · HBi）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73331" y="40981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2045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381750" y="4324350"/>
              <a:ext cx="5143500" cy="571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566535" y="4488656"/>
              <a:ext cx="26077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同一天（20140417）拍摄的两群海豚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67297" y="4695349"/>
              <a:ext cx="26484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属两个独立调查批次，跨调查个体对应未核验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59" name="TextBox 59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数据事实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3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4044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数据分布 — 真实扫描统计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9511" y="1141571"/>
            <a:ext cx="4837473" cy="3030379"/>
            <a:chOff x="659511" y="1141571"/>
            <a:chExt cx="4837473" cy="3030379"/>
          </a:xfrm>
        </p:grpSpPr>
        <p:sp>
          <p:nvSpPr>
            <p:cNvPr id="6" name="TextBox 6"/>
            <p:cNvSpPr txBox="1"/>
            <p:nvPr/>
          </p:nvSpPr>
          <p:spPr>
            <a:xfrm>
              <a:off x="659511" y="114157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标签状态分布</a:t>
              </a:r>
            </a:p>
          </p:txBody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70517" y="1390650"/>
              <a:ext cx="4326467" cy="278130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6279261" y="1141571"/>
            <a:ext cx="4760214" cy="3030379"/>
            <a:chOff x="6279261" y="1141571"/>
            <a:chExt cx="4760214" cy="3030379"/>
          </a:xfrm>
        </p:grpSpPr>
        <p:sp>
          <p:nvSpPr>
            <p:cNvPr id="9" name="TextBox 9"/>
            <p:cNvSpPr txBox="1"/>
            <p:nvPr/>
          </p:nvSpPr>
          <p:spPr>
            <a:xfrm>
              <a:off x="6279261" y="114157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调查批次分布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67525" y="1390650"/>
              <a:ext cx="4171950" cy="2781300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659511" y="4475321"/>
            <a:ext cx="6251405" cy="1296829"/>
            <a:chOff x="659511" y="4475321"/>
            <a:chExt cx="6251405" cy="1296829"/>
          </a:xfrm>
        </p:grpSpPr>
        <p:sp>
          <p:nvSpPr>
            <p:cNvPr id="12" name="TextBox 12"/>
            <p:cNvSpPr txBox="1"/>
            <p:nvPr/>
          </p:nvSpPr>
          <p:spPr>
            <a:xfrm>
              <a:off x="659511" y="4475321"/>
              <a:ext cx="279442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评分区间分布（quality band）</a:t>
              </a:r>
            </a:p>
          </p:txBody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81083" y="4724400"/>
              <a:ext cx="1629833" cy="1047750"/>
            </a:xfrm>
            <a:prstGeom prst="rect">
              <a:avLst/>
            </a:prstGeom>
          </p:spPr>
        </p:pic>
      </p:grpSp>
      <p:grpSp>
        <p:nvGrpSpPr>
          <p:cNvPr id="17" name="Group 17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数据事实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4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36303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数据特点决定技术方向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238250"/>
            <a:ext cx="5334000" cy="1428750"/>
            <a:chOff x="666750" y="1238250"/>
            <a:chExt cx="5334000" cy="1428750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533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95250" cy="1428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0511" y="1484471"/>
              <a:ext cx="10180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极端少样本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2035" y="1802606"/>
              <a:ext cx="2506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43 个个体各 1 张，模型无法从零训练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2175510"/>
              <a:ext cx="30653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迁移学习：外部鲸豚预训练 + 本地微调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191250" y="1238250"/>
            <a:ext cx="5334000" cy="1428750"/>
            <a:chOff x="6191250" y="1238250"/>
            <a:chExt cx="5334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6191250" y="1238250"/>
              <a:ext cx="533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191250" y="1238250"/>
              <a:ext cx="9525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65011" y="1484471"/>
              <a:ext cx="20116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207 张散图归属未确认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66535" y="1802606"/>
              <a:ext cx="2582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70-79 分，属于已分组个体但归属待定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66154" y="2175510"/>
              <a:ext cx="32010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分拣扩充标签 + candidate-label 弱监督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2857500"/>
            <a:ext cx="5334000" cy="1428750"/>
            <a:chOff x="666750" y="2857500"/>
            <a:chExt cx="5334000" cy="1428750"/>
          </a:xfrm>
        </p:grpSpPr>
        <p:sp>
          <p:nvSpPr>
            <p:cNvPr id="18" name="Rectangle 18"/>
            <p:cNvSpPr/>
            <p:nvPr/>
          </p:nvSpPr>
          <p:spPr>
            <a:xfrm>
              <a:off x="666750" y="2857500"/>
              <a:ext cx="533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66750" y="2857500"/>
              <a:ext cx="95250" cy="14287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40511" y="310372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背鳍左右两面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035" y="34218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左右侧特征不同，不可默认翻转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794760"/>
              <a:ext cx="2191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朝向标注，左右侧分别比较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191250" y="2857500"/>
            <a:ext cx="5334000" cy="1428750"/>
            <a:chOff x="6191250" y="2857500"/>
            <a:chExt cx="5334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6191250" y="2857500"/>
              <a:ext cx="533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2857500"/>
              <a:ext cx="95250" cy="1428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65011" y="3103721"/>
              <a:ext cx="24532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同一天两群 / 跨调查未核验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6535" y="3421856"/>
              <a:ext cx="28912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01 与 03 同日拍摄，同名编号跨调查不合并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154" y="3794760"/>
              <a:ext cx="23614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调查内比较，跨调查仅作候选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6750" y="4572000"/>
            <a:ext cx="10858500" cy="1333500"/>
            <a:chOff x="666750" y="4572000"/>
            <a:chExt cx="10858500" cy="1333500"/>
          </a:xfrm>
        </p:grpSpPr>
        <p:sp>
          <p:nvSpPr>
            <p:cNvPr id="30" name="Rectangle 30"/>
            <p:cNvSpPr/>
            <p:nvPr/>
          </p:nvSpPr>
          <p:spPr>
            <a:xfrm>
              <a:off x="666750" y="4572000"/>
              <a:ext cx="10858500" cy="1333500"/>
            </a:xfrm>
            <a:prstGeom prst="roundRect">
              <a:avLst>
                <a:gd name="adj" fmla="val 571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4880" y="4848225"/>
              <a:ext cx="21355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两个技术方向由此确定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5642" y="5245418"/>
              <a:ext cx="4531424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①　跨物种迁移学习 — 解决少样本、利用外部鲸豚数据②　散图分拣利用 — 207 张候选图扩充标签、缓解 one-shot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数据现状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5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8290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散图利用 — 207 张候选图的两种用法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238250"/>
            <a:ext cx="5334000" cy="3143250"/>
            <a:chOff x="666750" y="1238250"/>
            <a:chExt cx="5334000" cy="3143250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5334000" cy="3143250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95250" cy="3143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39368" y="1536382"/>
              <a:ext cx="19882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路径 A · 人工分拣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273" y="193881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01：59 张 / 03：148 张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273" y="23198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分配到对应个体文件夹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273" y="2700814"/>
              <a:ext cx="1166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更新 Manifest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3359468"/>
              <a:ext cx="170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个体标签直接扩充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273" y="3691414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缓解 one-shot 少样本问题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91250" y="1238250"/>
            <a:ext cx="5334000" cy="3143250"/>
            <a:chOff x="6191250" y="1238250"/>
            <a:chExt cx="5334000" cy="3143250"/>
          </a:xfrm>
        </p:grpSpPr>
        <p:sp>
          <p:nvSpPr>
            <p:cNvPr id="15" name="Rectangle 15"/>
            <p:cNvSpPr/>
            <p:nvPr/>
          </p:nvSpPr>
          <p:spPr>
            <a:xfrm>
              <a:off x="6191250" y="1238250"/>
              <a:ext cx="5334000" cy="3143250"/>
            </a:xfrm>
            <a:prstGeom prst="roundRect">
              <a:avLst>
                <a:gd name="adj" fmla="val 24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238250"/>
              <a:ext cx="95250" cy="3143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563868" y="1536382"/>
              <a:ext cx="270902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路径 B · candidate-label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5773" y="193881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分拣前即参与训练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5773" y="2319814"/>
              <a:ext cx="292505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约束：同调查 · 同评分区间（70-79）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565773" y="27008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只能作「候选集合」弱监督信息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5392" y="3359468"/>
              <a:ext cx="151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不作为个体标签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5773" y="36914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跨调查候选不作对应假设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" y="4667250"/>
            <a:ext cx="10858500" cy="1238250"/>
            <a:chOff x="666750" y="4667250"/>
            <a:chExt cx="10858500" cy="1238250"/>
          </a:xfrm>
        </p:grpSpPr>
        <p:sp>
          <p:nvSpPr>
            <p:cNvPr id="24" name="Rectangle 24"/>
            <p:cNvSpPr/>
            <p:nvPr/>
          </p:nvSpPr>
          <p:spPr>
            <a:xfrm>
              <a:off x="666750" y="4667250"/>
              <a:ext cx="10858500" cy="1238250"/>
            </a:xfrm>
            <a:prstGeom prst="roundRect">
              <a:avLst>
                <a:gd name="adj" fmla="val 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44880" y="49815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散图不是负担，是标签扩充池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023" y="5386864"/>
              <a:ext cx="63282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分拣一张，可用训练样本 +1；分拣完成 207 张后，个体样本数最多可提升一倍以上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技术方向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6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40448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迁移学习 — 四组对照实验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238250"/>
            <a:ext cx="2787777" cy="1524000"/>
            <a:chOff x="666750" y="1238250"/>
            <a:chExt cx="2787777" cy="1524000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257175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2571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3356" y="1539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A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404" y="19469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基线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6785" y="2278856"/>
              <a:ext cx="250774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ImageNet / DINOv2 / MegaDescriptor</a:t>
              </a: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预训练 + 本地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29000" y="1238250"/>
            <a:ext cx="2571750" cy="1524000"/>
            <a:chOff x="3429000" y="1238250"/>
            <a:chExt cx="2571750" cy="1524000"/>
          </a:xfrm>
        </p:grpSpPr>
        <p:sp>
          <p:nvSpPr>
            <p:cNvPr id="12" name="Rectangle 12"/>
            <p:cNvSpPr/>
            <p:nvPr/>
          </p:nvSpPr>
          <p:spPr>
            <a:xfrm>
              <a:off x="3429000" y="1238250"/>
              <a:ext cx="257175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3429000" y="123825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05606" y="1539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B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8654" y="19469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鲸豚监督迁移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09035" y="2278856"/>
              <a:ext cx="21190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Happywhale 监督预训练 + 本地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191250" y="1238250"/>
            <a:ext cx="2571750" cy="1524000"/>
            <a:chOff x="6191250" y="1238250"/>
            <a:chExt cx="2571750" cy="1524000"/>
          </a:xfrm>
        </p:grpSpPr>
        <p:sp>
          <p:nvSpPr>
            <p:cNvPr id="18" name="Rectangle 18"/>
            <p:cNvSpPr/>
            <p:nvPr/>
          </p:nvSpPr>
          <p:spPr>
            <a:xfrm>
              <a:off x="6191250" y="1238250"/>
              <a:ext cx="257175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123825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67856" y="1539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C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70904" y="1946910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自监督鲸豚迁移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71285" y="2278856"/>
              <a:ext cx="156184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Happywhale / NDD20 </a:t>
              </a: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self-supervised + 本地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953500" y="1238250"/>
            <a:ext cx="2571750" cy="1524000"/>
            <a:chOff x="8953500" y="1238250"/>
            <a:chExt cx="2571750" cy="1524000"/>
          </a:xfrm>
        </p:grpSpPr>
        <p:sp>
          <p:nvSpPr>
            <p:cNvPr id="24" name="Rectangle 24"/>
            <p:cNvSpPr/>
            <p:nvPr/>
          </p:nvSpPr>
          <p:spPr>
            <a:xfrm>
              <a:off x="8953500" y="1238250"/>
              <a:ext cx="257175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953500" y="1238250"/>
              <a:ext cx="25717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230106" y="15392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D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233154" y="194691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多源鲸豚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233535" y="2278856"/>
              <a:ext cx="184632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Happywhale + NDD20 + NOAA </a:t>
              </a: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+ Beluga + 本地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" y="3048000"/>
            <a:ext cx="10858500" cy="1524000"/>
            <a:chOff x="666750" y="3048000"/>
            <a:chExt cx="10858500" cy="1524000"/>
          </a:xfrm>
        </p:grpSpPr>
        <p:sp>
          <p:nvSpPr>
            <p:cNvPr id="30" name="Rectangle 30"/>
            <p:cNvSpPr/>
            <p:nvPr/>
          </p:nvSpPr>
          <p:spPr>
            <a:xfrm>
              <a:off x="666750" y="3048000"/>
              <a:ext cx="10858500" cy="1524000"/>
            </a:xfrm>
            <a:prstGeom prst="roundRect">
              <a:avLst>
                <a:gd name="adj" fmla="val 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66750" y="3048000"/>
              <a:ext cx="95250" cy="152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40130" y="3343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判定标准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1273" y="3786664"/>
              <a:ext cx="37544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C / B 优于 A → 迁移有效，外部鲸豚数据有价值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1273" y="4110514"/>
              <a:ext cx="4839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C 低于 B → 存在 source cue bias / 负迁移，改用多源或自监督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66750" y="4857750"/>
            <a:ext cx="10858500" cy="1047750"/>
            <a:chOff x="666750" y="4857750"/>
            <a:chExt cx="10858500" cy="1047750"/>
          </a:xfrm>
        </p:grpSpPr>
        <p:sp>
          <p:nvSpPr>
            <p:cNvPr id="36" name="Rectangle 36"/>
            <p:cNvSpPr/>
            <p:nvPr/>
          </p:nvSpPr>
          <p:spPr>
            <a:xfrm>
              <a:off x="666750" y="4857750"/>
              <a:ext cx="10858500" cy="1047750"/>
            </a:xfrm>
            <a:prstGeom prst="roundRect">
              <a:avLst>
                <a:gd name="adj" fmla="val 727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45261" y="5123021"/>
              <a:ext cx="3216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执行顺序 A → B → D → C · 核心判断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6404" y="5490210"/>
              <a:ext cx="72412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迁移的是 cetacean dorsal-fin representation（通用鲸豚背鳍表示），不是源物种的个体分类规则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技术方向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7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4866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迁移学习 — 外部数据源与执行顺序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48868" y="1498282"/>
            <a:ext cx="5151882" cy="3089529"/>
            <a:chOff x="848868" y="1498282"/>
            <a:chExt cx="5151882" cy="3089529"/>
          </a:xfrm>
        </p:grpSpPr>
        <p:sp>
          <p:nvSpPr>
            <p:cNvPr id="6" name="TextBox 6"/>
            <p:cNvSpPr txBox="1"/>
            <p:nvPr/>
          </p:nvSpPr>
          <p:spPr>
            <a:xfrm>
              <a:off x="848868" y="1498282"/>
              <a:ext cx="2579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外部数据源（P0 优先）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857250" y="18669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41273" y="2015014"/>
              <a:ext cx="10046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Happywhale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2416" y="2267902"/>
              <a:ext cx="3245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5.1 万张 / 1.56 万个体 / 30 物种（监督 Re-ID）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257175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1273" y="2719864"/>
              <a:ext cx="5386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NDD20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416" y="2972752"/>
              <a:ext cx="35129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4402 张，背鳍识别 + 部分分割标注（CC BY-NC-SA）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327660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273" y="3424714"/>
              <a:ext cx="12937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NOAA 宽吻海豚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2416" y="3677602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188 个体，背鳍形态 / 缺口（shape 预训练）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3981450"/>
              <a:ext cx="5143500" cy="590550"/>
            </a:xfrm>
            <a:prstGeom prst="roundRect">
              <a:avLst>
                <a:gd name="adj" fmla="val 1290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1273" y="4129564"/>
              <a:ext cx="78898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Beluga 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416" y="4382452"/>
              <a:ext cx="3247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5902 张 / 788 个体，疤痕 / 纹理（texture 路线）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286500" y="1238250"/>
            <a:ext cx="5334000" cy="1619250"/>
            <a:chOff x="6286500" y="1238250"/>
            <a:chExt cx="5334000" cy="1619250"/>
          </a:xfrm>
        </p:grpSpPr>
        <p:sp>
          <p:nvSpPr>
            <p:cNvPr id="20" name="Rectangle 20"/>
            <p:cNvSpPr/>
            <p:nvPr/>
          </p:nvSpPr>
          <p:spPr>
            <a:xfrm>
              <a:off x="6286500" y="1238250"/>
              <a:ext cx="5334000" cy="1619250"/>
            </a:xfrm>
            <a:prstGeom prst="roundRect">
              <a:avLst>
                <a:gd name="adj" fmla="val 47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238250"/>
              <a:ext cx="95250" cy="16192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59880" y="15335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最大风险：负迁移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61404" y="1946910"/>
              <a:ext cx="37519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源域靠背鳍轮廓识别，目标域靠斑点 / 色素纹理区分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661404" y="2270760"/>
              <a:ext cx="40831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直接分类迁移可能让模型过度依赖 shape、忽略 texture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61404" y="2594610"/>
              <a:ext cx="25310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用消融实验验证迁移是否真有效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286500" y="3048000"/>
            <a:ext cx="5334000" cy="2000250"/>
            <a:chOff x="6286500" y="3048000"/>
            <a:chExt cx="5334000" cy="2000250"/>
          </a:xfrm>
        </p:grpSpPr>
        <p:sp>
          <p:nvSpPr>
            <p:cNvPr id="27" name="Rectangle 27"/>
            <p:cNvSpPr/>
            <p:nvPr/>
          </p:nvSpPr>
          <p:spPr>
            <a:xfrm>
              <a:off x="6286500" y="3048000"/>
              <a:ext cx="5334000" cy="2000250"/>
            </a:xfrm>
            <a:prstGeom prst="roundRect">
              <a:avLst>
                <a:gd name="adj" fmla="val 381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286500" y="3048000"/>
              <a:ext cx="95250" cy="2000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659880" y="3343275"/>
              <a:ext cx="25595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执行顺序（规模从小到大）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61023" y="3786664"/>
              <a:ext cx="26341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1. NDD20 → 2. NOAA → 3. Beluga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023" y="4110514"/>
              <a:ext cx="23350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4. Happywhale → 5. 多源融合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1785" y="4564856"/>
              <a:ext cx="31701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优先小数据跑通 pipeline，再上大数据验证收益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61416" y="64017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技术方向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8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12620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技术路线 — 从裁剪到个体数据库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66750" y="1238250"/>
            <a:ext cx="2571750" cy="1333500"/>
            <a:chOff x="666750" y="1238250"/>
            <a:chExt cx="2571750" cy="1333500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2571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45642" y="1606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背鳍裁剪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785" y="1993106"/>
              <a:ext cx="11493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背鳍区域提取朝向标注（左右）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429000" y="1238250"/>
            <a:ext cx="2571750" cy="1333500"/>
            <a:chOff x="3429000" y="1238250"/>
            <a:chExt cx="2571750" cy="1333500"/>
          </a:xfrm>
        </p:grpSpPr>
        <p:sp>
          <p:nvSpPr>
            <p:cNvPr id="11" name="Rectangle 11"/>
            <p:cNvSpPr/>
            <p:nvPr/>
          </p:nvSpPr>
          <p:spPr>
            <a:xfrm>
              <a:off x="3429000" y="123825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429000" y="123825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707892" y="1606868"/>
              <a:ext cx="94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embedding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09035" y="1993106"/>
              <a:ext cx="2095246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预训练模型（MegaDescriptor）L2 归一化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191250" y="1238250"/>
            <a:ext cx="2571750" cy="1333500"/>
            <a:chOff x="6191250" y="1238250"/>
            <a:chExt cx="2571750" cy="1333500"/>
          </a:xfrm>
        </p:grpSpPr>
        <p:sp>
          <p:nvSpPr>
            <p:cNvPr id="16" name="Rectangle 16"/>
            <p:cNvSpPr/>
            <p:nvPr/>
          </p:nvSpPr>
          <p:spPr>
            <a:xfrm>
              <a:off x="6191250" y="123825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91250" y="123825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70142" y="16068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检索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71285" y="1993106"/>
              <a:ext cx="800862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余弦相似度</a:t>
              </a:r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Faiss Top-K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953500" y="1238250"/>
            <a:ext cx="2571750" cy="1333500"/>
            <a:chOff x="8953500" y="1238250"/>
            <a:chExt cx="2571750" cy="1333500"/>
          </a:xfrm>
        </p:grpSpPr>
        <p:sp>
          <p:nvSpPr>
            <p:cNvPr id="21" name="Rectangle 21"/>
            <p:cNvSpPr/>
            <p:nvPr/>
          </p:nvSpPr>
          <p:spPr>
            <a:xfrm>
              <a:off x="8953500" y="123825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953500" y="1238250"/>
              <a:ext cx="25717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232392" y="16068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候选聚类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33535" y="1993106"/>
              <a:ext cx="127025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HDBSCAN，允许噪声不强制分配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66750" y="2857500"/>
            <a:ext cx="2571750" cy="1333500"/>
            <a:chOff x="666750" y="2857500"/>
            <a:chExt cx="2571750" cy="1333500"/>
          </a:xfrm>
        </p:grpSpPr>
        <p:sp>
          <p:nvSpPr>
            <p:cNvPr id="26" name="Rectangle 26"/>
            <p:cNvSpPr/>
            <p:nvPr/>
          </p:nvSpPr>
          <p:spPr>
            <a:xfrm>
              <a:off x="666750" y="285750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750" y="2857500"/>
              <a:ext cx="25717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45642" y="3226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人工核验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3612356"/>
              <a:ext cx="162585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候选簇拼图（FiftyOne）确认 / 拆分 / 合并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3429000" y="2857500"/>
            <a:ext cx="2571750" cy="1333500"/>
            <a:chOff x="3429000" y="2857500"/>
            <a:chExt cx="2571750" cy="1333500"/>
          </a:xfrm>
        </p:grpSpPr>
        <p:sp>
          <p:nvSpPr>
            <p:cNvPr id="31" name="Rectangle 31"/>
            <p:cNvSpPr/>
            <p:nvPr/>
          </p:nvSpPr>
          <p:spPr>
            <a:xfrm>
              <a:off x="3429000" y="285750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429000" y="285750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707892" y="32261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伪标签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09035" y="3612356"/>
              <a:ext cx="114935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高可信确认结果版本化，回流微调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191250" y="2857500"/>
            <a:ext cx="2571750" cy="1333500"/>
            <a:chOff x="6191250" y="2857500"/>
            <a:chExt cx="2571750" cy="1333500"/>
          </a:xfrm>
        </p:grpSpPr>
        <p:sp>
          <p:nvSpPr>
            <p:cNvPr id="36" name="Rectangle 36"/>
            <p:cNvSpPr/>
            <p:nvPr/>
          </p:nvSpPr>
          <p:spPr>
            <a:xfrm>
              <a:off x="6191250" y="285750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91250" y="2857500"/>
              <a:ext cx="25717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70142" y="32261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度量学习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71285" y="3612356"/>
              <a:ext cx="1199134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en-US" sz="112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>ArcFace / Triplet</a:t>
              </a: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重新提取特征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953500" y="2857500"/>
            <a:ext cx="2571750" cy="1333500"/>
            <a:chOff x="8953500" y="2857500"/>
            <a:chExt cx="2571750" cy="1333500"/>
          </a:xfrm>
        </p:grpSpPr>
        <p:sp>
          <p:nvSpPr>
            <p:cNvPr id="41" name="Rectangle 41"/>
            <p:cNvSpPr/>
            <p:nvPr/>
          </p:nvSpPr>
          <p:spPr>
            <a:xfrm>
              <a:off x="8953500" y="2857500"/>
              <a:ext cx="2571750" cy="1333500"/>
            </a:xfrm>
            <a:prstGeom prst="roundRect">
              <a:avLst>
                <a:gd name="adj" fmla="val 571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953500" y="2857500"/>
              <a:ext cx="257175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232392" y="32261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个体数据库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233535" y="3612356"/>
              <a:ext cx="864870" cy="467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可持续更新历史拍摄记录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736861" y="4567714"/>
            <a:ext cx="2718278" cy="249364"/>
            <a:chOff x="4736861" y="4567714"/>
            <a:chExt cx="2718278" cy="249364"/>
          </a:xfrm>
        </p:grpSpPr>
        <p:sp>
          <p:nvSpPr>
            <p:cNvPr id="46" name="TextBox 46"/>
            <p:cNvSpPr txBox="1"/>
            <p:nvPr/>
          </p:nvSpPr>
          <p:spPr>
            <a:xfrm>
              <a:off x="4736861" y="4567714"/>
              <a:ext cx="27182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核验结果回流微调模型 —— 闭环迭代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66750" y="5048250"/>
            <a:ext cx="10858500" cy="952500"/>
            <a:chOff x="666750" y="5048250"/>
            <a:chExt cx="10858500" cy="952500"/>
          </a:xfrm>
        </p:grpSpPr>
        <p:sp>
          <p:nvSpPr>
            <p:cNvPr id="48" name="Rectangle 48"/>
            <p:cNvSpPr/>
            <p:nvPr/>
          </p:nvSpPr>
          <p:spPr>
            <a:xfrm>
              <a:off x="666750" y="5048250"/>
              <a:ext cx="10858500" cy="952500"/>
            </a:xfrm>
            <a:prstGeom prst="roundRect">
              <a:avLst>
                <a:gd name="adj" fmla="val 8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45261" y="5294471"/>
              <a:ext cx="121878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Segoe UI"/>
                  <a:ea typeface="Microsoft YaHei"/>
                  <a:cs typeface="Segoe UI"/>
                </a:rPr>
                <a:t>系统三类输出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46404" y="5661660"/>
              <a:ext cx="38411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Top-K 候选 · 未知个体标记（开放集）· 需人工核验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52" name="TextBox 52"/>
            <p:cNvSpPr txBox="1"/>
            <p:nvPr/>
          </p:nvSpPr>
          <p:spPr>
            <a:xfrm>
              <a:off x="661416" y="640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路线与行动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028883" y="6401752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9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51802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阶段规划 — 当前处于阶段 2 起点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66750" y="1238250"/>
            <a:ext cx="1524000" cy="1428750"/>
            <a:chOff x="666750" y="1238250"/>
            <a:chExt cx="1524000" cy="1428750"/>
          </a:xfrm>
        </p:grpSpPr>
        <p:sp>
          <p:nvSpPr>
            <p:cNvPr id="6" name="Rectangle 6"/>
            <p:cNvSpPr/>
            <p:nvPr/>
          </p:nvSpPr>
          <p:spPr>
            <a:xfrm>
              <a:off x="66675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666750" y="1238250"/>
              <a:ext cx="1524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5623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06409" y="19359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语义确认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2590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已完成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286000" y="1238250"/>
            <a:ext cx="1524000" cy="1428750"/>
            <a:chOff x="2286000" y="1238250"/>
            <a:chExt cx="1524000" cy="1428750"/>
          </a:xfrm>
        </p:grpSpPr>
        <p:sp>
          <p:nvSpPr>
            <p:cNvPr id="12" name="Rectangle 12"/>
            <p:cNvSpPr/>
            <p:nvPr/>
          </p:nvSpPr>
          <p:spPr>
            <a:xfrm>
              <a:off x="228600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286000" y="1238250"/>
              <a:ext cx="152400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97548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25659" y="193595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数据索引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4515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已完成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905250" y="1238250"/>
            <a:ext cx="1524000" cy="1428750"/>
            <a:chOff x="3905250" y="1238250"/>
            <a:chExt cx="1524000" cy="1428750"/>
          </a:xfrm>
        </p:grpSpPr>
        <p:sp>
          <p:nvSpPr>
            <p:cNvPr id="18" name="Rectangle 18"/>
            <p:cNvSpPr/>
            <p:nvPr/>
          </p:nvSpPr>
          <p:spPr>
            <a:xfrm>
              <a:off x="390525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905250" y="1238250"/>
              <a:ext cx="152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59473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2"/>
                  </a:solidFill>
                  <a:latin typeface="Segoe UI"/>
                  <a:ea typeface="Segoe UI"/>
                  <a:cs typeface="Segoe UI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24373" y="1935956"/>
              <a:ext cx="685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rPr>
                <a:t>Pilot Set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6440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进行中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524500" y="1238250"/>
            <a:ext cx="1524000" cy="1428750"/>
            <a:chOff x="5524500" y="1238250"/>
            <a:chExt cx="1524000" cy="1428750"/>
          </a:xfrm>
        </p:grpSpPr>
        <p:sp>
          <p:nvSpPr>
            <p:cNvPr id="24" name="Rectangle 24"/>
            <p:cNvSpPr/>
            <p:nvPr/>
          </p:nvSpPr>
          <p:spPr>
            <a:xfrm>
              <a:off x="552450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524500" y="1238250"/>
              <a:ext cx="152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21398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885002" y="19359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人工基准集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08365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待启动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143750" y="1238250"/>
            <a:ext cx="1524000" cy="1428750"/>
            <a:chOff x="7143750" y="1238250"/>
            <a:chExt cx="1524000" cy="1428750"/>
          </a:xfrm>
        </p:grpSpPr>
        <p:sp>
          <p:nvSpPr>
            <p:cNvPr id="30" name="Rectangle 30"/>
            <p:cNvSpPr/>
            <p:nvPr/>
          </p:nvSpPr>
          <p:spPr>
            <a:xfrm>
              <a:off x="714375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143750" y="1238250"/>
              <a:ext cx="152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3323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425096" y="1935956"/>
              <a:ext cx="961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自监督与轮廓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0290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待启动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763000" y="1238250"/>
            <a:ext cx="1524000" cy="1428750"/>
            <a:chOff x="8763000" y="1238250"/>
            <a:chExt cx="1524000" cy="1428750"/>
          </a:xfrm>
        </p:grpSpPr>
        <p:sp>
          <p:nvSpPr>
            <p:cNvPr id="36" name="Rectangle 36"/>
            <p:cNvSpPr/>
            <p:nvPr/>
          </p:nvSpPr>
          <p:spPr>
            <a:xfrm>
              <a:off x="876300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763000" y="1238250"/>
              <a:ext cx="152400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5248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1"/>
                  </a:solidFill>
                  <a:latin typeface="Segoe UI"/>
                  <a:ea typeface="Segoe UI"/>
                  <a:cs typeface="Segoe UI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23502" y="19359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伪标签训练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32215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待启动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0382250" y="1238250"/>
            <a:ext cx="1524000" cy="1428750"/>
            <a:chOff x="10382250" y="1238250"/>
            <a:chExt cx="1524000" cy="1428750"/>
          </a:xfrm>
        </p:grpSpPr>
        <p:sp>
          <p:nvSpPr>
            <p:cNvPr id="42" name="Rectangle 42"/>
            <p:cNvSpPr/>
            <p:nvPr/>
          </p:nvSpPr>
          <p:spPr>
            <a:xfrm>
              <a:off x="10382250" y="1238250"/>
              <a:ext cx="15240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82250" y="1238250"/>
              <a:ext cx="1524000" cy="76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071730" y="1555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650" b="1" dirty="0">
                  <a:solidFill>
                    <a:schemeClr val="accent3"/>
                  </a:solidFill>
                  <a:latin typeface="Segoe UI"/>
                  <a:ea typeface="Segoe UI"/>
                  <a:cs typeface="Segoe UI"/>
                </a:rPr>
                <a:t>6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742752" y="1935956"/>
              <a:ext cx="80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自动化系统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941406" y="229504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待启动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66750" y="2952750"/>
            <a:ext cx="10858500" cy="1428750"/>
            <a:chOff x="666750" y="2952750"/>
            <a:chExt cx="10858500" cy="1428750"/>
          </a:xfrm>
        </p:grpSpPr>
        <p:sp>
          <p:nvSpPr>
            <p:cNvPr id="48" name="Rectangle 48"/>
            <p:cNvSpPr/>
            <p:nvPr/>
          </p:nvSpPr>
          <p:spPr>
            <a:xfrm>
              <a:off x="666750" y="2952750"/>
              <a:ext cx="10858500" cy="1428750"/>
            </a:xfrm>
            <a:prstGeom prst="roundRect">
              <a:avLst>
                <a:gd name="adj" fmla="val 5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66750" y="2952750"/>
              <a:ext cx="95250" cy="14287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40130" y="3228975"/>
              <a:ext cx="399323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阶段 2 · Pilot Set 与最小基线（进行中）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41273" y="3634264"/>
              <a:ext cx="6304026" cy="57321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2.1 选择 Pilot Set → 2.2 基线 embedding（不裁剪）→ 2.3 Top-K 检索 → 2.4 候选聚类2.5 候选簇拼图 → 2.6 基线诊断（是否区分个体 / 是否按背景聚类）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849630" y="4886325"/>
            <a:ext cx="9172565" cy="965359"/>
            <a:chOff x="849630" y="4886325"/>
            <a:chExt cx="9172565" cy="965359"/>
          </a:xfrm>
        </p:grpSpPr>
        <p:sp>
          <p:nvSpPr>
            <p:cNvPr id="53" name="TextBox 53"/>
            <p:cNvSpPr txBox="1"/>
            <p:nvPr/>
          </p:nvSpPr>
          <p:spPr>
            <a:xfrm>
              <a:off x="849630" y="4886325"/>
              <a:ext cx="15524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阶段 0-1 交付物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50773" y="5310664"/>
              <a:ext cx="9171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dataset_manifest.csv（2863 行）· dataset_stats.json · dataset_tree.txt · unreadable_files.csv（0 损坏）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1535" y="5631656"/>
              <a:ext cx="3026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所有数据可追溯、脚本可重跑、原始数据只读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661416" y="640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路线与行动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9511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10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857250"/>
            <a:chOff x="0" y="0"/>
            <a:chExt cx="12192000" cy="85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857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952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53796" y="258128"/>
              <a:ext cx="620754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交付与行动 — 索引已就绪，行动待启动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9630" y="1476375"/>
            <a:ext cx="9027871" cy="946309"/>
            <a:chOff x="849630" y="1476375"/>
            <a:chExt cx="9027871" cy="946309"/>
          </a:xfrm>
        </p:grpSpPr>
        <p:sp>
          <p:nvSpPr>
            <p:cNvPr id="6" name="TextBox 6"/>
            <p:cNvSpPr txBox="1"/>
            <p:nvPr/>
          </p:nvSpPr>
          <p:spPr>
            <a:xfrm>
              <a:off x="849630" y="1476375"/>
              <a:ext cx="39589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已交付 — 索引四件套（outputs/index/）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51154" y="1889760"/>
              <a:ext cx="90263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dataset_manifest.csv（2863×28 字段）· dataset_stats.json · dataset_tree.txt · unreadable_files.csv（0 损坏）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51535" y="2202656"/>
              <a:ext cx="36752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每张图片可追溯原始路径 · 原始数据只读 · 脚本可重跑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666750" y="2857500"/>
            <a:ext cx="3524250" cy="1714500"/>
            <a:chOff x="666750" y="2857500"/>
            <a:chExt cx="3524250" cy="1714500"/>
          </a:xfrm>
        </p:grpSpPr>
        <p:sp>
          <p:nvSpPr>
            <p:cNvPr id="10" name="Rectangle 10"/>
            <p:cNvSpPr/>
            <p:nvPr/>
          </p:nvSpPr>
          <p:spPr>
            <a:xfrm>
              <a:off x="666750" y="2857500"/>
              <a:ext cx="3524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857500"/>
              <a:ext cx="3524250" cy="76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44118" y="3155632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① 散图分拣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404" y="3585210"/>
              <a:ext cx="200101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207 张（01：59 / 03：148）人工分配到个体文件夹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404" y="4156710"/>
              <a:ext cx="2140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标签扩充，缓解 one-shot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381500" y="2857500"/>
            <a:ext cx="3524250" cy="1714500"/>
            <a:chOff x="4381500" y="2857500"/>
            <a:chExt cx="3524250" cy="1714500"/>
          </a:xfrm>
        </p:grpSpPr>
        <p:sp>
          <p:nvSpPr>
            <p:cNvPr id="16" name="Rectangle 16"/>
            <p:cNvSpPr/>
            <p:nvPr/>
          </p:nvSpPr>
          <p:spPr>
            <a:xfrm>
              <a:off x="4381500" y="2857500"/>
              <a:ext cx="3524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381500" y="2857500"/>
              <a:ext cx="35242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658868" y="31556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② 外部数据下载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61154" y="3585210"/>
              <a:ext cx="188671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NDD20 → NOAA → Beluga </a:t>
              </a:r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→ Happywhale（规模递增）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661154" y="4156710"/>
              <a:ext cx="11740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启动迁移实验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096250" y="2857500"/>
            <a:ext cx="3524250" cy="1714500"/>
            <a:chOff x="8096250" y="2857500"/>
            <a:chExt cx="3524250" cy="1714500"/>
          </a:xfrm>
        </p:grpSpPr>
        <p:sp>
          <p:nvSpPr>
            <p:cNvPr id="22" name="Rectangle 22"/>
            <p:cNvSpPr/>
            <p:nvPr/>
          </p:nvSpPr>
          <p:spPr>
            <a:xfrm>
              <a:off x="8096250" y="2857500"/>
              <a:ext cx="3524250" cy="1714500"/>
            </a:xfrm>
            <a:prstGeom prst="roundRect">
              <a:avLst>
                <a:gd name="adj" fmla="val 444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096250" y="2857500"/>
              <a:ext cx="3524250" cy="76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73618" y="3155632"/>
              <a:ext cx="16143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Segoe UI"/>
                  <a:ea typeface="Microsoft YaHei"/>
                  <a:cs typeface="Segoe UI"/>
                </a:rPr>
                <a:t>③ 朝向标注规范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75904" y="3585210"/>
              <a:ext cx="1825752" cy="5204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每张照片记录 left / right</a:t>
              </a:r>
              <a:r>
                <a:rPr lang="en-US" sz="1200" dirty="0">
                  <a:solidFill>
                    <a:schemeClr val="dk1"/>
                  </a:solidFill>
                  <a:latin typeface="Segoe UI"/>
                  <a:ea typeface="Segoe UI"/>
                  <a:cs typeface="Segoe UI"/>
                </a:rPr>
                <a:t xml:space="preserve"> / unknown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75904" y="4156710"/>
              <a:ext cx="13437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→ 左右侧分别比较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66750" y="4857750"/>
            <a:ext cx="10858500" cy="1143000"/>
            <a:chOff x="666750" y="4857750"/>
            <a:chExt cx="10858500" cy="1143000"/>
          </a:xfrm>
        </p:grpSpPr>
        <p:sp>
          <p:nvSpPr>
            <p:cNvPr id="28" name="Rectangle 28"/>
            <p:cNvSpPr/>
            <p:nvPr/>
          </p:nvSpPr>
          <p:spPr>
            <a:xfrm>
              <a:off x="666750" y="4857750"/>
              <a:ext cx="10858500" cy="114300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66750" y="4857750"/>
              <a:ext cx="95250" cy="114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892" y="51311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3"/>
                  </a:solidFill>
                  <a:latin typeface="Segoe UI"/>
                  <a:ea typeface="Microsoft YaHei"/>
                  <a:cs typeface="Segoe UI"/>
                </a:rPr>
                <a:t>待确认（一项）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1654" y="5509260"/>
              <a:ext cx="48181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Segoe UI"/>
                  <a:ea typeface="Microsoft YaHei"/>
                  <a:cs typeface="Segoe UI"/>
                </a:rPr>
                <a:t>数据授权（训练 / 发布）· individual.docx 内容 · 50-69 区间含义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661416" y="6401752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66666"/>
                  </a:solidFill>
                  <a:latin typeface="Segoe UI"/>
                  <a:ea typeface="Microsoft YaHei"/>
                  <a:cs typeface="Segoe UI"/>
                </a:rPr>
                <a:t>路线与行动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9511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66666"/>
                  </a:solidFill>
                  <a:latin typeface="Segoe UI"/>
                  <a:ea typeface="Segoe UI"/>
                  <a:cs typeface="Segoe UI"/>
                </a:rPr>
                <a:t>11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4" name="Group 4"/>
          <p:cNvGrpSpPr/>
          <p:nvPr/>
        </p:nvGrpSpPr>
        <p:grpSpPr>
          <a:xfrm>
            <a:off x="2223070" y="1897380"/>
            <a:ext cx="7745860" cy="704088"/>
            <a:chOff x="2223070" y="1897380"/>
            <a:chExt cx="7745860" cy="704088"/>
          </a:xfrm>
        </p:grpSpPr>
        <p:sp>
          <p:nvSpPr>
            <p:cNvPr id="3" name="TextBox 3"/>
            <p:cNvSpPr txBox="1"/>
            <p:nvPr/>
          </p:nvSpPr>
          <p:spPr>
            <a:xfrm>
              <a:off x="2223070" y="1897380"/>
              <a:ext cx="77458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下一步 — 数据已就绪，方向已明确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43500" y="2762250"/>
            <a:ext cx="1905000" cy="38100"/>
            <a:chOff x="5143500" y="2762250"/>
            <a:chExt cx="1905000" cy="38100"/>
          </a:xfrm>
        </p:grpSpPr>
        <p:sp>
          <p:nvSpPr>
            <p:cNvPr id="5" name="Rectangle 5"/>
            <p:cNvSpPr/>
            <p:nvPr/>
          </p:nvSpPr>
          <p:spPr>
            <a:xfrm>
              <a:off x="5143500" y="2762250"/>
              <a:ext cx="1905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4172560" y="3272790"/>
            <a:ext cx="3846881" cy="352044"/>
            <a:chOff x="4172560" y="3272790"/>
            <a:chExt cx="3846881" cy="352044"/>
          </a:xfrm>
        </p:grpSpPr>
        <p:sp>
          <p:nvSpPr>
            <p:cNvPr id="7" name="TextBox 7"/>
            <p:cNvSpPr txBox="1"/>
            <p:nvPr/>
          </p:nvSpPr>
          <p:spPr>
            <a:xfrm>
              <a:off x="4172560" y="3272790"/>
              <a:ext cx="384688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①　散图分拣 207 张，扩充个体标签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081691" y="3844290"/>
            <a:ext cx="4028618" cy="352044"/>
            <a:chOff x="4081691" y="3844290"/>
            <a:chExt cx="4028618" cy="352044"/>
          </a:xfrm>
        </p:grpSpPr>
        <p:sp>
          <p:nvSpPr>
            <p:cNvPr id="9" name="TextBox 9"/>
            <p:cNvSpPr txBox="1"/>
            <p:nvPr/>
          </p:nvSpPr>
          <p:spPr>
            <a:xfrm>
              <a:off x="4081691" y="3844290"/>
              <a:ext cx="40286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②　下载外部鲸豚数据，启动迁移实验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515106" y="4415790"/>
            <a:ext cx="5161788" cy="352044"/>
            <a:chOff x="3515106" y="4415790"/>
            <a:chExt cx="5161788" cy="352044"/>
          </a:xfrm>
        </p:grpSpPr>
        <p:sp>
          <p:nvSpPr>
            <p:cNvPr id="11" name="TextBox 11"/>
            <p:cNvSpPr txBox="1"/>
            <p:nvPr/>
          </p:nvSpPr>
          <p:spPr>
            <a:xfrm>
              <a:off x="3515106" y="4415790"/>
              <a:ext cx="51617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B8D0E8"/>
                  </a:solidFill>
                  <a:latin typeface="Segoe UI"/>
                  <a:ea typeface="Microsoft YaHei"/>
                  <a:cs typeface="Segoe UI"/>
                </a:rPr>
                <a:t>③　Pilot Set 基线：embedding → Top-K → 聚类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66530" y="5567362"/>
            <a:ext cx="658940" cy="440055"/>
            <a:chOff x="5766530" y="5567362"/>
            <a:chExt cx="658940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5766530" y="5567362"/>
              <a:ext cx="658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谢谢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1416" y="6401752"/>
            <a:ext cx="10773918" cy="205359"/>
            <a:chOff x="661416" y="6401752"/>
            <a:chExt cx="1077391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661416" y="6401752"/>
              <a:ext cx="1282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FA8C8"/>
                  </a:solidFill>
                  <a:latin typeface="Segoe UI"/>
                  <a:ea typeface="Microsoft YaHei"/>
                  <a:cs typeface="Segoe UI"/>
                </a:rPr>
                <a:t>中华白海豚个体识别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51140" y="64017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FA8C8"/>
                  </a:solidFill>
                  <a:latin typeface="Segoe UI"/>
                  <a:ea typeface="Segoe UI"/>
                  <a:cs typeface="Segoe UI"/>
                </a:rPr>
                <a:t>12 / 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white_whale_prep">
  <a:themeElements>
    <a:clrScheme name="white_whale_prep">
      <a:dk1>
        <a:srgbClr val="2B3440"/>
      </a:dk1>
      <a:lt1>
        <a:srgbClr val="FFFFFF"/>
      </a:lt1>
      <a:dk2>
        <a:srgbClr val="1F497D"/>
      </a:dk2>
      <a:lt2>
        <a:srgbClr val="F2F5F9"/>
      </a:lt2>
      <a:accent1>
        <a:srgbClr val="1E3A5F"/>
      </a:accent1>
      <a:accent2>
        <a:srgbClr val="E8B339"/>
      </a:accent2>
      <a:accent3>
        <a:srgbClr val="BF0000"/>
      </a:accent3>
      <a:accent4>
        <a:srgbClr val="1E3A5F"/>
      </a:accent4>
      <a:accent5>
        <a:srgbClr val="4BACC6"/>
      </a:accent5>
      <a:accent6>
        <a:srgbClr val="F79646"/>
      </a:accent6>
      <a:hlink>
        <a:srgbClr val="E8B339"/>
      </a:hlink>
      <a:folHlink>
        <a:srgbClr val="BF0000"/>
      </a:folHlink>
    </a:clrScheme>
    <a:fontScheme name="white_whale_prep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_whale_pre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white_whale_prep">
  <a:themeElements>
    <a:clrScheme name="white_whale_prep">
      <a:dk1>
        <a:srgbClr val="2B3440"/>
      </a:dk1>
      <a:lt1>
        <a:srgbClr val="FFFFFF"/>
      </a:lt1>
      <a:dk2>
        <a:srgbClr val="1F497D"/>
      </a:dk2>
      <a:lt2>
        <a:srgbClr val="F2F5F9"/>
      </a:lt2>
      <a:accent1>
        <a:srgbClr val="1E3A5F"/>
      </a:accent1>
      <a:accent2>
        <a:srgbClr val="E8B339"/>
      </a:accent2>
      <a:accent3>
        <a:srgbClr val="BF0000"/>
      </a:accent3>
      <a:accent4>
        <a:srgbClr val="1E3A5F"/>
      </a:accent4>
      <a:accent5>
        <a:srgbClr val="4BACC6"/>
      </a:accent5>
      <a:accent6>
        <a:srgbClr val="F79646"/>
      </a:accent6>
      <a:hlink>
        <a:srgbClr val="E8B339"/>
      </a:hlink>
      <a:folHlink>
        <a:srgbClr val="BF0000"/>
      </a:folHlink>
    </a:clrScheme>
    <a:fontScheme name="white_whale_prep">
      <a:maj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Microsoft YaHei"/>
        <a:cs typeface="微软雅黑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hite_whale_pre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2026-08-07T12:34:51Z</dcterms:created>
  <dcterms:modified xsi:type="dcterms:W3CDTF">2026-08-07T12:34:51Z</dcterms:modified>
  <cp:category/>
  <cp:contentStatus/>
</cp:coreProperties>
</file>